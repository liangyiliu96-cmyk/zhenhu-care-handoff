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64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Microsoft YaHei"/>
              </a:defRPr>
            </a:pPr>
            <a:r>
              <a:t>臻 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492A6"/>
                </a:solidFill>
                <a:latin typeface="Microsoft YaHei"/>
              </a:defRPr>
            </a:pPr>
            <a:r>
              <a:t>ZhenHu — AI 驱动的出院交接与慢病智能协同管理平台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926080"/>
            <a:ext cx="3200400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5DC"/>
                </a:solidFill>
                <a:latin typeface="Microsoft YaHei"/>
              </a:defRPr>
            </a:pPr>
            <a:r>
              <a:t>面向科室的智能住院管理解决方案  ·  心内科试点  ·  v0.3.0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基于46份设计文档  ·  163+ API端点  ·  19节点AI Agent  ·  FHIR R4标准化  ·  全角色覆盖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6472"/>
                </a:solidFill>
                <a:latin typeface="Microsoft YaHei"/>
              </a:defRPr>
            </a:pPr>
            <a:r>
              <a:t>演讲目录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7899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560320" cy="1005840"/>
          </a:xfrm>
          <a:prstGeom prst="rect">
            <a:avLst/>
          </a:prstGeom>
          <a:solidFill>
            <a:srgbClr val="F5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6472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项目背景与痛点分析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828800"/>
            <a:ext cx="25603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647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产品定位与解决方案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2560320" cy="1005840"/>
          </a:xfrm>
          <a:prstGeom prst="rect">
            <a:avLst/>
          </a:prstGeom>
          <a:solidFill>
            <a:srgbClr val="F5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6472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系统架构全景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828800"/>
            <a:ext cx="25603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6472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AI Agent 编排引擎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63240"/>
            <a:ext cx="2560320" cy="1005840"/>
          </a:xfrm>
          <a:prstGeom prst="rect">
            <a:avLst/>
          </a:prstGeom>
          <a:solidFill>
            <a:srgbClr val="F5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6472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医生端功能详解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3063240"/>
            <a:ext cx="25603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6472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护士端功能详解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063240"/>
            <a:ext cx="2560320" cy="1005840"/>
          </a:xfrm>
          <a:prstGeom prst="rect">
            <a:avLst/>
          </a:prstGeom>
          <a:solidFill>
            <a:srgbClr val="F5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6472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管理端功能详解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3063240"/>
            <a:ext cx="25603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6472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FHIR 标准化与数据互通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297680"/>
            <a:ext cx="2560320" cy="1005840"/>
          </a:xfrm>
          <a:prstGeom prst="rect">
            <a:avLst/>
          </a:prstGeom>
          <a:solidFill>
            <a:srgbClr val="F5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6472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800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临床智能助手体系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4297680"/>
            <a:ext cx="25603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647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800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中西医协同创新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297680"/>
            <a:ext cx="2560320" cy="1005840"/>
          </a:xfrm>
          <a:prstGeom prst="rect">
            <a:avLst/>
          </a:prstGeom>
          <a:solidFill>
            <a:srgbClr val="F5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6472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800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知识库与证据图谱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52560" y="4297680"/>
            <a:ext cx="25603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2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6472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4800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安全与审计体系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532120"/>
            <a:ext cx="2560320" cy="1005840"/>
          </a:xfrm>
          <a:prstGeom prst="rect">
            <a:avLst/>
          </a:prstGeom>
          <a:solidFill>
            <a:srgbClr val="F5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6472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035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质量保障与测试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80" y="5532120"/>
            <a:ext cx="25603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044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6472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20440" y="6035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项目价值与预期效果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5532120"/>
            <a:ext cx="2560320" cy="1005840"/>
          </a:xfrm>
          <a:prstGeom prst="rect">
            <a:avLst/>
          </a:prstGeom>
          <a:solidFill>
            <a:srgbClr val="F5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6472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6035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实施路线图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52560" y="5532120"/>
            <a:ext cx="25603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8972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B6472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6035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团队与致谢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6472"/>
                </a:solidFill>
                <a:latin typeface="Microsoft YaHei"/>
              </a:defRPr>
            </a:pPr>
            <a:r>
              <a:t>01  项目背景：住院管理的四大核心痛点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7899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32F2F"/>
                </a:solidFill>
                <a:latin typeface="Microsoft YaHei"/>
              </a:defRPr>
            </a:pPr>
            <a:r>
              <a:t>🔴  出院交接断裂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240280"/>
            <a:ext cx="1828800" cy="1828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出院小结与社区/下级医院信息脱节</a:t>
            </a:r>
            <a:br/>
            <a:r>
              <a:t>30%患者出院后7天内管理"真空"</a:t>
            </a:r>
            <a:br/>
            <a:r>
              <a:t>医嘱口头传递，遗漏率高达25%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45920"/>
            <a:ext cx="26517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6C02"/>
                </a:solidFill>
                <a:latin typeface="Microsoft YaHei"/>
              </a:defRPr>
            </a:pPr>
            <a:r>
              <a:t>🟠  多角色协同低效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240280"/>
            <a:ext cx="1828800" cy="18288"/>
          </a:xfrm>
          <a:prstGeom prst="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42316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医护药三方依赖纸质交接班本</a:t>
            </a:r>
            <a:br/>
            <a:r>
              <a:t>信息遗漏率25%，沟通成本高</a:t>
            </a:r>
            <a:br/>
            <a:r>
              <a:t>缺少统一的临床决策平台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45920"/>
            <a:ext cx="26517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A17"/>
                </a:solidFill>
                <a:latin typeface="Microsoft YaHei"/>
              </a:defRPr>
            </a:pPr>
            <a:r>
              <a:t>🟡  AI能力未嵌入临床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240280"/>
            <a:ext cx="1828800" cy="1828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42316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NEWS2/DDx/出院标准全靠经验</a:t>
            </a:r>
            <a:br/>
            <a:r>
              <a:t>缺少结构化证据链和实时告警</a:t>
            </a:r>
            <a:br/>
            <a:r>
              <a:t>知识库无法辅助临床推理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645920"/>
            <a:ext cx="265176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6472"/>
                </a:solidFill>
                <a:latin typeface="Microsoft YaHei"/>
              </a:defRPr>
            </a:pPr>
            <a:r>
              <a:t>🔵  数据孤岛无法互通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72600" y="2240280"/>
            <a:ext cx="1828800" cy="18288"/>
          </a:xfrm>
          <a:prstGeom prst="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242316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HIS/LIS/EMR系统间数据不互通</a:t>
            </a:r>
            <a:br/>
            <a:r>
              <a:t>出院后慢病数据断裂</a:t>
            </a:r>
            <a:br/>
            <a:r>
              <a:t>无法形成完整闭环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029200"/>
            <a:ext cx="2286000" cy="1097280"/>
          </a:xfrm>
          <a:prstGeom prst="roundRect">
            <a:avLst/>
          </a:prstGeom>
          <a:solidFill>
            <a:srgbClr val="F5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86A17"/>
                </a:solidFill>
                <a:latin typeface="Microsoft YaHei"/>
              </a:defRPr>
            </a:pPr>
            <a:r>
              <a:t>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出院后管理真空率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5029200"/>
            <a:ext cx="2286000" cy="1097280"/>
          </a:xfrm>
          <a:prstGeom prst="roundRect">
            <a:avLst/>
          </a:prstGeom>
          <a:solidFill>
            <a:srgbClr val="F5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5166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86A17"/>
                </a:solidFill>
                <a:latin typeface="Microsoft YaHei"/>
              </a:defRPr>
            </a:pPr>
            <a:r>
              <a:t>25%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交接信息遗漏率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029200"/>
            <a:ext cx="2286000" cy="1097280"/>
          </a:xfrm>
          <a:prstGeom prst="roundRect">
            <a:avLst/>
          </a:prstGeom>
          <a:solidFill>
            <a:srgbClr val="F5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166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86A17"/>
                </a:solidFill>
                <a:latin typeface="Microsoft YaHei"/>
              </a:defRPr>
            </a:pPr>
            <a:r>
              <a:t>14种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覆盖病种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5029200"/>
            <a:ext cx="2286000" cy="1097280"/>
          </a:xfrm>
          <a:prstGeom prst="roundRect">
            <a:avLst/>
          </a:prstGeom>
          <a:solidFill>
            <a:srgbClr val="F5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5166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86A17"/>
                </a:solidFill>
                <a:latin typeface="Microsoft YaHei"/>
              </a:defRPr>
            </a:pPr>
            <a:r>
              <a:t>163+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API端点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6472"/>
                </a:solidFill>
                <a:latin typeface="Microsoft YaHei"/>
              </a:defRPr>
            </a:pPr>
            <a:r>
              <a:t>02  产品定位与核心价值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面向医护人员的临床决策支持系统 (CDSS)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7899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474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6472"/>
                </a:solidFill>
                <a:latin typeface="Microsoft YaHei"/>
              </a:defRPr>
            </a:pPr>
            <a:r>
              <a:t>👨‍⚕️  医生端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工作台·查房·审核·用药·出院</a:t>
            </a:r>
            <a:br/>
            <a:r>
              <a:t>AI辅助临床推理与决策</a:t>
            </a:r>
            <a:br/>
            <a:r>
              <a:t>结构化SOAP + DDx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74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6472"/>
                </a:solidFill>
                <a:latin typeface="Microsoft YaHei"/>
              </a:defRPr>
            </a:pPr>
            <a:r>
              <a:t>👩‍⚕️  护士端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看板·任务·监测·交班·制度</a:t>
            </a:r>
            <a:br/>
            <a:r>
              <a:t>AI优先级排序 + 体征趋势</a:t>
            </a:r>
            <a:br/>
            <a:r>
              <a:t>护理全流程闭环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474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6472"/>
                </a:solidFill>
                <a:latin typeface="Microsoft YaHei"/>
              </a:defRPr>
            </a:pPr>
            <a:r>
              <a:t>⚙️  管理端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86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知识库治理·病种模板·质控</a:t>
            </a:r>
            <a:br/>
            <a:r>
              <a:t>科主任/护士长双角色视图</a:t>
            </a:r>
            <a:br/>
            <a:r>
              <a:t>运维面板 + 证据图谱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26517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498848"/>
            <a:ext cx="2322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B6472"/>
                </a:solidFill>
                <a:latin typeface="Microsoft YaHei"/>
              </a:defRPr>
            </a:pPr>
            <a:r>
              <a:t>🤖 AI Agent 编排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46320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19个临床节点 StateGraph</a:t>
            </a:r>
            <a:br/>
            <a:r>
              <a:t>自动模式+人工审核双模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20640"/>
            <a:ext cx="2322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3474720" y="4389120"/>
            <a:ext cx="26517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9312" y="4498848"/>
            <a:ext cx="2322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B6472"/>
                </a:solidFill>
                <a:latin typeface="Microsoft YaHei"/>
              </a:defRPr>
            </a:pPr>
            <a:r>
              <a:t>🏥 FHIR R4 标准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4846320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8类资源 + Patient Compartment</a:t>
            </a:r>
            <a:br/>
            <a:r>
              <a:t>PII脱敏 + 访问审计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5120640"/>
            <a:ext cx="2322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6400800" y="4389120"/>
            <a:ext cx="26517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4498848"/>
            <a:ext cx="2322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B6472"/>
                </a:solidFill>
                <a:latin typeface="Microsoft YaHei"/>
              </a:defRPr>
            </a:pPr>
            <a:r>
              <a:t>🔄 版本化状态机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4846320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CAS乐观锁防并发冲突</a:t>
            </a:r>
            <a:br/>
            <a:r>
              <a:t>409冲突后保留用户草稿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5120640"/>
            <a:ext cx="2322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</a:p>
        </p:txBody>
      </p:sp>
      <p:sp>
        <p:nvSpPr>
          <p:cNvPr id="27" name="Rounded Rectangle 26"/>
          <p:cNvSpPr/>
          <p:nvPr/>
        </p:nvSpPr>
        <p:spPr>
          <a:xfrm>
            <a:off x="9326880" y="4389120"/>
            <a:ext cx="26517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91472" y="4498848"/>
            <a:ext cx="2322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B6472"/>
                </a:solidFill>
                <a:latin typeface="Microsoft YaHei"/>
              </a:defRPr>
            </a:pPr>
            <a:r>
              <a:t>📊 证据链溯源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1472" y="4846320"/>
            <a:ext cx="2322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RAG + LLM 双重验证</a:t>
            </a:r>
            <a:br/>
            <a:r>
              <a:t>Neo4j 证据图谱可视化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91472" y="5120640"/>
            <a:ext cx="2322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6472"/>
                </a:solidFill>
                <a:latin typeface="Microsoft YaHei"/>
              </a:defRPr>
            </a:pPr>
            <a:r>
              <a:t>03  系统架构全景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五层微服务 + 六大基础设施 + 三端协同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7899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7772400" cy="640080"/>
          </a:xfrm>
          <a:prstGeom prst="round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表现层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6642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React 18 + MUI v6 · Vite 6 · TanStack Query · Recharts · Zustand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7772400" cy="640080"/>
          </a:xfrm>
          <a:prstGeom prst="roundRect">
            <a:avLst/>
          </a:prstGeom>
          <a:solidFill>
            <a:srgbClr val="14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414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API 网关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4414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FastAPI · CORS · Auth(header/jwt/oidc) · Idempotency · 请求ID追踪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8960"/>
            <a:ext cx="7772400" cy="640080"/>
          </a:xfrm>
          <a:prstGeom prst="round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186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核心服务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18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住院协同(8000) · FHIR适配(8300) · 知识编排(8200) · 工作流引擎(8100)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7772400" cy="6400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959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AI 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959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LangGraph Agent · DeepSeek V4 · Ollama回退 · RAG · CircuitBreaker · Harness护栏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63440"/>
            <a:ext cx="777240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731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773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PostgreSQL · SQLite · Neo4j证据图谱 · Redis缓存 · Milvus向量库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1554480"/>
            <a:ext cx="2926080" cy="5029200"/>
          </a:xfrm>
          <a:prstGeom prst="roundRect">
            <a:avLst/>
          </a:prstGeom>
          <a:solidFill>
            <a:srgbClr val="E8F0F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16642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92A6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3960" y="1993392"/>
            <a:ext cx="2651760" cy="13716"/>
          </a:xfrm>
          <a:prstGeom prst="rect">
            <a:avLst/>
          </a:prstGeom>
          <a:solidFill>
            <a:srgbClr val="14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21031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Python 3.13 + FastAPI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35915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TypeScript 5.7 + React 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61518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LangGraph 19节点编排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287121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Milvus 2.4 向量检索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31272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Neo4j 证据图谱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33832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Redis 7 缓存/队列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363931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Docker Compose部署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8953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SQLAlchemy 2.0 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415137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Playwright E2E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44074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Vitest + pytest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6472"/>
                </a:solidFill>
                <a:latin typeface="Microsoft YaHei"/>
              </a:defRPr>
            </a:pPr>
            <a:r>
              <a:t>04  AI Agent 编排引擎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19节点 StateGraph · 双模式(自动+人工审核) · 6道安全护栏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7899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029200" cy="914400"/>
          </a:xfrm>
          <a:prstGeom prst="roundRect">
            <a:avLst/>
          </a:prstGeom>
          <a:solidFill>
            <a:srgbClr val="E8F0F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6472"/>
                </a:solidFill>
                <a:latin typeface="Microsoft YaHei"/>
              </a:defRPr>
            </a:pPr>
            <a:r>
              <a:t>入院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45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admission → history_taking → physical_exam → ddx → medication_reconciliation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5029200" cy="914400"/>
          </a:xfrm>
          <a:prstGeom prst="roundRect">
            <a:avLst/>
          </a:prstGeom>
          <a:solidFill>
            <a:srgbClr val="E8F0F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6472"/>
                </a:solidFill>
                <a:latin typeface="Microsoft YaHei"/>
              </a:defRPr>
            </a:pPr>
            <a:r>
              <a:t>分诊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432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triage → doctor_confirm(人工卡点) → batch_scoring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40"/>
            <a:ext cx="5029200" cy="914400"/>
          </a:xfrm>
          <a:prstGeom prst="roundRect">
            <a:avLst/>
          </a:prstGeom>
          <a:solidFill>
            <a:srgbClr val="E8F0F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6472"/>
                </a:solidFill>
                <a:latin typeface="Microsoft YaHei"/>
              </a:defRPr>
            </a:pPr>
            <a:r>
              <a:t>住院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40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monitoring → daily_round → nursing → lab_review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46320"/>
            <a:ext cx="5029200" cy="914400"/>
          </a:xfrm>
          <a:prstGeom prst="roundRect">
            <a:avLst/>
          </a:prstGeom>
          <a:solidFill>
            <a:srgbClr val="E8F0F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6472"/>
                </a:solidFill>
                <a:latin typeface="Microsoft YaHei"/>
              </a:defRPr>
            </a:pPr>
            <a:r>
              <a:t>出院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9377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discharge → handoff → doctor_review(人工卡点) → patient_confirm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554480"/>
            <a:ext cx="5669280" cy="2194560"/>
          </a:xfrm>
          <a:prstGeom prst="roundRect">
            <a:avLst/>
          </a:prstGeom>
          <a:solidFill>
            <a:srgbClr val="E8F0F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16642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A17"/>
                </a:solidFill>
                <a:latin typeface="Microsoft YaHei"/>
              </a:defRPr>
            </a:pPr>
            <a:r>
              <a:t>6道安全护栏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993392"/>
            <a:ext cx="5394960" cy="1371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2103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Pydantic输出Schema校验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5915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幻觉检测(score&lt;0.6→降级)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1518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模板回退(fallback_to_template)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87121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LLM只读原则(不直写DB)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12724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source_type溯源(rule/rag/llm/manual)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3832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CircuitBreaker三档渐进降级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472"/>
                </a:solidFill>
                <a:latin typeface="Microsoft YaHei"/>
              </a:defRPr>
            </a:pPr>
            <a:r>
              <a:t>5 Agent体系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297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任务规划 → 病历一致性 → 指南合规 → 自检 → 审核编排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472"/>
                </a:solidFill>
                <a:latin typeface="Microsoft YaHei"/>
              </a:defRPr>
            </a:pPr>
            <a:r>
              <a:t>LLM路由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937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DeepSeek V4-Pro(主力) → Ollama(容灾回退) → 规则引擎(基线)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472"/>
                </a:solidFill>
                <a:latin typeface="Microsoft YaHei"/>
              </a:defRPr>
            </a:pPr>
            <a:r>
              <a:t>审核卡点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577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doctor_confirm(入院) / med_confirm(调药) / discharge_sign(出院)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472"/>
                </a:solidFill>
                <a:latin typeface="Microsoft YaHei"/>
              </a:defRPr>
            </a:pPr>
            <a:r>
              <a:t>事件驱动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6217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push-based泛型事件循环，planTurn双分支(GEN/RESUME)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6472"/>
                </a:solidFill>
                <a:latin typeface="Microsoft YaHei"/>
              </a:defRPr>
            </a:pPr>
            <a:r>
              <a:t>05  医生端功能详解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6大核心能力 · 85+功能按钮 · 23个临床组件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7899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1828800" cy="1234440"/>
          </a:xfrm>
          <a:prstGeom prst="round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27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20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审核队列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194560"/>
            <a:ext cx="1682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DEEF2"/>
                </a:solidFill>
                <a:latin typeface="Microsoft YaHei"/>
              </a:defRPr>
            </a:pPr>
            <a:r>
              <a:t>入院诊断/用药/出院</a:t>
            </a:r>
            <a:br/>
            <a:r>
              <a:t>三卡点待审核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554480"/>
            <a:ext cx="1828800" cy="1234440"/>
          </a:xfrm>
          <a:prstGeom prst="roundRect">
            <a:avLst/>
          </a:prstGeom>
          <a:solidFill>
            <a:srgbClr val="14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1627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920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AI审核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194560"/>
            <a:ext cx="1682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DEEF2"/>
                </a:solidFill>
                <a:latin typeface="Microsoft YaHei"/>
              </a:defRPr>
            </a:pPr>
            <a:r>
              <a:t>DDx编辑/调药决策</a:t>
            </a:r>
            <a:br/>
            <a:r>
              <a:t>交接事项逐项核对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554480"/>
            <a:ext cx="1828800" cy="1234440"/>
          </a:xfrm>
          <a:prstGeom prst="round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627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920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查房管理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2194560"/>
            <a:ext cx="1682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DEEF2"/>
                </a:solidFill>
                <a:latin typeface="Microsoft YaHei"/>
              </a:defRPr>
            </a:pPr>
            <a:r>
              <a:t>SOAP生成/编辑</a:t>
            </a:r>
            <a:br/>
            <a:r>
              <a:t>体征趋势/证据溯源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554480"/>
            <a:ext cx="1828800" cy="1234440"/>
          </a:xfrm>
          <a:prstGeom prst="roundRect">
            <a:avLst/>
          </a:prstGeom>
          <a:solidFill>
            <a:srgbClr val="ED6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27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920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医嘱协同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194560"/>
            <a:ext cx="1682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DEEF2"/>
                </a:solidFill>
                <a:latin typeface="Microsoft YaHei"/>
              </a:defRPr>
            </a:pPr>
            <a:r>
              <a:t>用药/检查/MDT/</a:t>
            </a:r>
            <a:br/>
            <a:r>
              <a:t>宣教/随访全流程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554480"/>
            <a:ext cx="1828800" cy="12344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627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920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照护管理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194560"/>
            <a:ext cx="1682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DEEF2"/>
                </a:solidFill>
                <a:latin typeface="Microsoft YaHei"/>
              </a:defRPr>
            </a:pPr>
            <a:r>
              <a:t>生命周期状态流转</a:t>
            </a:r>
            <a:br/>
            <a:r>
              <a:t>版本化写入+409保护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32720" y="1554480"/>
            <a:ext cx="1828800" cy="123444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0" y="1627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1920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出院流程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05872" y="2194560"/>
            <a:ext cx="1682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DEEF2"/>
                </a:solidFill>
                <a:latin typeface="Microsoft YaHei"/>
              </a:defRPr>
            </a:pPr>
            <a:r>
              <a:t>6步:条件→审核→</a:t>
            </a:r>
            <a:br/>
            <a:r>
              <a:t>发起→签字→交接→回授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017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472"/>
                </a:solidFill>
                <a:latin typeface="Microsoft YaHei"/>
              </a:defRPr>
            </a:pPr>
            <a:r>
              <a:t>📋 DiffPanel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0175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三模式审核(入院/用药/出院) · payload完整暴露 · 编辑优先 · 409冲突保留草稿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611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472"/>
                </a:solidFill>
                <a:latin typeface="Microsoft YaHei"/>
              </a:defRPr>
            </a:pPr>
            <a:r>
              <a:t>💊 照护管理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36118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5类操作(医嘱/检查/MDT/宣教/随访) · 生命周期流转 · canSubmitCareAction校验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206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472"/>
                </a:solidFill>
                <a:latin typeface="Microsoft YaHei"/>
              </a:defRPr>
            </a:pPr>
            <a:r>
              <a:t>🔬 监测录入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2062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体征(血压/心率/SpO2/体温) + 检验(项目/结果/单位) · 趋势可视化 · 异常高亮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800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472"/>
                </a:solidFill>
                <a:latin typeface="Microsoft YaHei"/>
              </a:defRPr>
            </a:pPr>
            <a:r>
              <a:t>📝 入院采集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48006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病史(SOAP/OLDCARTS) + 体格检查(Bates指南10系统) · DDx LLM辅助鉴别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394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472"/>
                </a:solidFill>
                <a:latin typeface="Microsoft YaHei"/>
              </a:defRPr>
            </a:pPr>
            <a:r>
              <a:t>🤖 临床助手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53949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5种模式(查房/护理/用药/患教/中西医) · SSE流式 · 操作草稿审批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989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472"/>
                </a:solidFill>
                <a:latin typeface="Microsoft YaHei"/>
              </a:defRPr>
            </a:pPr>
            <a:r>
              <a:t>📄 出院小结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59893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AI生成结构化摘要 · PDF导出 · audit_export留痕 · 交接签字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6472"/>
                </a:solidFill>
                <a:latin typeface="Microsoft YaHei"/>
              </a:defRPr>
            </a:pPr>
            <a:r>
              <a:t>06-07  护士端 &amp; 管理端详解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7899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4846320"/>
          </a:xfrm>
          <a:prstGeom prst="roundRect">
            <a:avLst/>
          </a:prstGeom>
          <a:solidFill>
            <a:srgbClr val="E8F0F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6472"/>
                </a:solidFill>
                <a:latin typeface="Microsoft YaHei"/>
              </a:defRPr>
            </a:pPr>
            <a:r>
              <a:t>护理看板 — 6大工作区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93392"/>
            <a:ext cx="5212080" cy="13716"/>
          </a:xfrm>
          <a:prstGeom prst="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班次总览: AI优先级排序 + 体征趋势 + 交班摘要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5915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护理任务: 按患者展示待办 · 一键完成 · 录护理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1518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在院患者: 搜索/筛选/风险分层 · 床旁风险提示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7121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逾期监测: 严重逾期红色高亮 · 补录护理入口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2724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交班报告: 重点关注/今日出院/病情稳定三组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832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制度执行: 4步闭环(标准→任务→升级→留痕)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3931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床旁助手: 护理助手 · 证据图谱 · 临床摘要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9534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护理KPI: 完成率/逾期率/按类型统计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554480"/>
            <a:ext cx="5303520" cy="4846320"/>
          </a:xfrm>
          <a:prstGeom prst="roundRect">
            <a:avLst/>
          </a:prstGeom>
          <a:solidFill>
            <a:srgbClr val="E8F0F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6642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A17"/>
                </a:solidFill>
                <a:latin typeface="Microsoft YaHei"/>
              </a:defRPr>
            </a:pPr>
            <a:r>
              <a:t>管理控制台 — 两种角色视图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1993392"/>
            <a:ext cx="5029200" cy="1371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1031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【科主任】病区总览: 工作量/趋势/告警/查房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35915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【科主任】知识库治理: 16层385条 · 重建索引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61518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【科主任】病种模板: 14病种 · JSON配置化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87121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【科主任】组织架构: 多科室人员管理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12724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【科主任】系统运维: reindex/seed/clear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3832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【护士长】护理质量: KPI · 完成率 · 交接总览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63931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【护士长】制度执行: 4步闭环 · 确认留痕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89534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【护士长】证据图谱: Neo4j诊断→证据→指南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6472"/>
                </a:solidFill>
                <a:latin typeface="Microsoft YaHei"/>
              </a:defRPr>
            </a:pPr>
            <a:r>
              <a:t>08  FHIR R4 标准化与数据互通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8类FHIR资源 · Patient Compartment · PII脱敏 · 访问审计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7899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664208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B6472"/>
                </a:solidFill>
                <a:latin typeface="Microsoft Ya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21792" y="2011680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Patient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286000"/>
            <a:ext cx="2276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患者基本信息/脱敏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1664208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492A6"/>
                </a:solidFill>
                <a:latin typeface="Microsoft YaHe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502152" y="2011680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Encounter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286000"/>
            <a:ext cx="2276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就诊记录/出入院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664208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86A17"/>
                </a:solidFill>
                <a:latin typeface="Microsoft YaHe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382512" y="2011680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Condition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286000"/>
            <a:ext cx="2276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诊断/DDx/ICD-10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55448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2872" y="1664208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D6C02"/>
                </a:solidFill>
                <a:latin typeface="Microsoft YaHe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9262872" y="2011680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Observation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286000"/>
            <a:ext cx="2276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体征/检验/LOINC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7180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081528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E7D32"/>
                </a:solidFill>
                <a:latin typeface="Microsoft YaHe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21792" y="3429000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MedicationRequest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3703320"/>
            <a:ext cx="2276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用药申请/医嘱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297180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2152" y="3081528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7B1FA2"/>
                </a:solidFill>
                <a:latin typeface="Microsoft YaHe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3502152" y="3429000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CarePlan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3703320"/>
            <a:ext cx="2276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照护计划(出院+慢病)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97180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3081528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32F2F"/>
                </a:solidFill>
                <a:latin typeface="Microsoft YaHe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382512" y="3429000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Consent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3703320"/>
            <a:ext cx="2276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知情同意/授权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297180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62872" y="3081528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B7280"/>
                </a:solidFill>
                <a:latin typeface="Microsoft YaHe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9262872" y="3429000"/>
            <a:ext cx="2276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AuditEvent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2872" y="3703320"/>
            <a:ext cx="2276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审计事件/C/R/U/D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3891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472"/>
                </a:solidFill>
                <a:latin typeface="Microsoft YaHei"/>
              </a:defRPr>
            </a:pPr>
            <a:r>
              <a:t>脱敏输出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663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Name→首字+** · Identifier→TOKEN-后4位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43891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472"/>
                </a:solidFill>
                <a:latin typeface="Microsoft YaHei"/>
              </a:defRPr>
            </a:pPr>
            <a:r>
              <a:t>访问审计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7560" y="4663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每次读/写自动INSERT audit_events · actor/time追踪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3891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472"/>
                </a:solidFill>
                <a:latin typeface="Microsoft YaHei"/>
              </a:defRPr>
            </a:pPr>
            <a:r>
              <a:t>同步机制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663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inpatient-ward→BackgroundTasks→fhir-adapter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43891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472"/>
                </a:solidFill>
                <a:latin typeface="Microsoft YaHei"/>
              </a:defRPr>
            </a:pPr>
            <a:r>
              <a:t>出院对接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4663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POST /fhir/Observation/Condition/AuditEvent/MedicationRequest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6472"/>
                </a:solidFill>
                <a:latin typeface="Microsoft YaHei"/>
              </a:defRPr>
            </a:pPr>
            <a:r>
              <a:t>09  临床智能助手体系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5种助手模式 · 16层RAG知识索引 · SSE流式响应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7899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5943600" cy="685800"/>
          </a:xfrm>
          <a:prstGeom prst="roundRect">
            <a:avLst/>
          </a:prstGeom>
          <a:solidFill>
            <a:srgbClr val="F5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6472"/>
                </a:solidFill>
                <a:latin typeface="Microsoft YaHei"/>
              </a:defRPr>
            </a:pPr>
            <a:r>
              <a:t>👨‍⚕️ 查房助手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主治/住院 · DDx讨论 · DB Agent查病史 · 7层RAG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377440"/>
            <a:ext cx="5943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92A6"/>
                </a:solidFill>
                <a:latin typeface="Microsoft YaHei"/>
              </a:defRPr>
            </a:pPr>
            <a:r>
              <a:t>👩‍⚕️ 护理助手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护士长/护士 · 护理操作 · 交接班 · 清单生成 · 7层RAG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00400"/>
            <a:ext cx="5943600" cy="685800"/>
          </a:xfrm>
          <a:prstGeom prst="roundRect">
            <a:avLst/>
          </a:prstGeom>
          <a:solidFill>
            <a:srgbClr val="F5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A17"/>
                </a:solidFill>
                <a:latin typeface="Microsoft YaHei"/>
              </a:defRPr>
            </a:pPr>
            <a:r>
              <a:t>💊 用药助手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医生/药师 · 药物相互作用 · 剂量调整 · OpenFDA实时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023360"/>
            <a:ext cx="5943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D6C02"/>
                </a:solidFill>
                <a:latin typeface="Microsoft YaHei"/>
              </a:defRPr>
            </a:pPr>
            <a:r>
              <a:t>🏠 患教助手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患者/家属 · 出院须知 · 通俗化改写 · 康复指导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846320"/>
            <a:ext cx="5943600" cy="685800"/>
          </a:xfrm>
          <a:prstGeom prst="roundRect">
            <a:avLst/>
          </a:prstGeom>
          <a:solidFill>
            <a:srgbClr val="F5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B1FA2"/>
                </a:solidFill>
                <a:latin typeface="Microsoft YaHei"/>
              </a:defRPr>
            </a:pPr>
            <a:r>
              <a:t>🌿 中西医协同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937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医生 · 双视角评估 · 经方速查 · 出院调养 · 6层RAG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1554480"/>
            <a:ext cx="4846320" cy="2560320"/>
          </a:xfrm>
          <a:prstGeom prst="roundRect">
            <a:avLst/>
          </a:prstGeom>
          <a:solidFill>
            <a:srgbClr val="E8F0F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6642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6472"/>
                </a:solidFill>
                <a:latin typeface="Microsoft YaHei"/>
              </a:defRPr>
            </a:pPr>
            <a:r>
              <a:t>技术实现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1993392"/>
            <a:ext cx="4572000" cy="13716"/>
          </a:xfrm>
          <a:prstGeom prst="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210312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POST /assistant/chat · /stream SSE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35915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意图识别 → RAG检索 → 上下文组装 → LLM推理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615184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Redis会话管理(生产) / 内存dict(开发)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871216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30分钟无活动自动清除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127248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ChatBox三模式: 浮动/侧栏/内嵌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38328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SSE首token≤3s 契约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4389120"/>
            <a:ext cx="4846320" cy="2011680"/>
          </a:xfrm>
          <a:prstGeom prst="roundRect">
            <a:avLst/>
          </a:prstGeom>
          <a:solidFill>
            <a:srgbClr val="E8F0F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44988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A17"/>
                </a:solidFill>
                <a:latin typeface="Microsoft YaHei"/>
              </a:defRPr>
            </a:pPr>
            <a:r>
              <a:t>操作草稿闭环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03720" y="4828032"/>
            <a:ext cx="4572000" cy="1371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493776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助手输出→转为操作草稿→医生编辑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519379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审批/驳回→同步到患者状态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5449824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PATCH draft · POST approve/reject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6472"/>
                </a:solidFill>
                <a:latin typeface="Microsoft YaHei"/>
              </a:defRPr>
            </a:pPr>
            <a:r>
              <a:t>10-11  中西医协同 &amp; 知识库体系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7899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5669280" cy="4846320"/>
          </a:xfrm>
          <a:prstGeom prst="roundRect">
            <a:avLst/>
          </a:prstGeom>
          <a:solidFill>
            <a:srgbClr val="E8F0F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B1FA2"/>
                </a:solidFill>
                <a:latin typeface="Microsoft YaHei"/>
              </a:defRPr>
            </a:pPr>
            <a:r>
              <a:t>中西医结合智能协同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93392"/>
            <a:ext cx="5394960" cy="13716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L15 中医核心层: 六经辨证公式(8规则) + 经方速查(129+)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915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药物性味归经(345种) + 倪氏六健康标准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1518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脉诊舌诊速查(16条) + 药食同源禁忌(30条)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7121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三层协同: 入院(体质辨识) → 住院(中西药交互) → 出院(中医康复)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2724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三省策略: 诊断公式 + 药物协同 + 体质出院评估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832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3批次实施: S1知识入库 → S2药物交互 → S3体质评估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3931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严格边界: 不蒸馏345种本草/849医案，不接入非医学内容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54480"/>
            <a:ext cx="5303520" cy="4846320"/>
          </a:xfrm>
          <a:prstGeom prst="roundRect">
            <a:avLst/>
          </a:prstGeom>
          <a:solidFill>
            <a:srgbClr val="E8F0F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6642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6472"/>
                </a:solidFill>
                <a:latin typeface="Microsoft YaHei"/>
              </a:defRPr>
            </a:pPr>
            <a:r>
              <a:t>RAG知识库 &amp; 证据图谱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1993392"/>
            <a:ext cx="5029200" cy="13716"/>
          </a:xfrm>
          <a:prstGeom prst="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1031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16层 / 385条结构化临床知识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35915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Milvus 2.4 向量检索 (dim=768, IP度量)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61518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知识生命周期: 7种状态枚举 + 状态机流转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87121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语义检索预览 + 分层索引管理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12724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Neo4j 证据图谱: 诊断→证据→指南路径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3832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RAG→LLM管线: prompt拼接+字段级验证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63931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4批次知识治理: 导入→校验→发布→反向阻断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6472"/>
                </a:solidFill>
                <a:latin typeface="Microsoft YaHei"/>
              </a:defRPr>
            </a:pPr>
            <a:r>
              <a:t>12  安全与审计体系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三模式认证 · 角色中间件 · 全链路追踪 · 审计不可覆盖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7899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943600" cy="1005840"/>
          </a:xfrm>
          <a:prstGeom prst="roundRect">
            <a:avLst/>
          </a:prstGeom>
          <a:solidFill>
            <a:srgbClr val="E8F0F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6472"/>
                </a:solidFill>
                <a:latin typeface="Microsoft YaHei"/>
              </a:defRPr>
            </a:pPr>
            <a:r>
              <a:t>🔐 三模式认证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header(开发) / jwt(联调) / oidc(生产Keycloak)</a:t>
            </a:r>
            <a:br/>
            <a:r>
              <a:t>Access Token 15min · Refresh Token 8h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5943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6472"/>
                </a:solidFill>
                <a:latin typeface="Microsoft YaHei"/>
              </a:defRPr>
            </a:pPr>
            <a:r>
              <a:t>👥 角色中间件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doctor/nurse双角色 · 端点级RBAC</a:t>
            </a:r>
            <a:br/>
            <a:r>
              <a:t>医生专属路由(审核/出院/command)</a:t>
            </a:r>
            <a:br/>
            <a:r>
              <a:t>患者级访问控制(patient_access)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5943600" cy="1005840"/>
          </a:xfrm>
          <a:prstGeom prst="roundRect">
            <a:avLst/>
          </a:prstGeom>
          <a:solidFill>
            <a:srgbClr val="E8F0F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6472"/>
                </a:solidFill>
                <a:latin typeface="Microsoft YaHei"/>
              </a:defRPr>
            </a:pPr>
            <a:r>
              <a:t>🛡️ 数据安全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PII脱敏(name/identifier)</a:t>
            </a:r>
            <a:br/>
            <a:r>
              <a:t>FHIR访问审计(C/R/U/D四操作)</a:t>
            </a:r>
            <a:br/>
            <a:r>
              <a:t>请求ID全链路追踪(X-Request-ID)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212080"/>
            <a:ext cx="5943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6472"/>
                </a:solidFill>
                <a:latin typeface="Microsoft YaHei"/>
              </a:defRPr>
            </a:pPr>
            <a:r>
              <a:t>📝 审计体系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235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audit_events 不可变记录</a:t>
            </a:r>
            <a:br/>
            <a:r>
              <a:t>before_state/after_state 变更追踪</a:t>
            </a:r>
            <a:br/>
            <a:r>
              <a:t>actor + timestamp 逐条记录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645920"/>
            <a:ext cx="4846320" cy="4754880"/>
          </a:xfrm>
          <a:prstGeom prst="roundRect">
            <a:avLst/>
          </a:prstGeom>
          <a:solidFill>
            <a:srgbClr val="E8F0F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17556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A17"/>
                </a:solidFill>
                <a:latin typeface="Microsoft YaHei"/>
              </a:defRPr>
            </a:pPr>
            <a:r>
              <a:t>安全技术栈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5160" y="2084832"/>
            <a:ext cx="4572000" cy="1371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219456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Idempotency-Key 幂等中间件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45059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expected_version CAS乐观锁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706624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409冲突后保留用户草稿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2962656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不自动回放临床写入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218688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LLM只读原则 · Harness护栏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47472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请求级X-Request-ID追踪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73075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结构化JSON日志 · HTTP指标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986784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SKIP_BRIDGE外网阻断开关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242816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生产环境Fixture禁用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498848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DeepSeek API 401→Ollama回退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6472"/>
                </a:solidFill>
                <a:latin typeface="Microsoft YaHei"/>
              </a:defRPr>
            </a:pPr>
            <a:r>
              <a:t>13  质量保障与测试体系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7899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6472"/>
                </a:solidFill>
                <a:latin typeface="Microsoft YaHei"/>
              </a:defRPr>
            </a:pPr>
            <a:r>
              <a:t>🧪 E2E (17条)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3条核心链路 / Playwright自动化 / 全覆盖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029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2491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6472"/>
                </a:solidFill>
                <a:latin typeface="Microsoft YaHei"/>
              </a:defRPr>
            </a:pPr>
            <a:r>
              <a:t>🔬 前端单元 (128条)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46测试文件 / React组件+Services+Hooks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5029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6499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6472"/>
                </a:solidFill>
                <a:latin typeface="Microsoft YaHei"/>
              </a:defRPr>
            </a:pPr>
            <a:r>
              <a:t>⚙️ 后端Agent (48条)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19节点独立测试 / Mock LLM确定性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0292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050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6472"/>
                </a:solidFill>
                <a:latin typeface="Microsoft YaHei"/>
              </a:defRPr>
            </a:pPr>
            <a:r>
              <a:t>📋 接口契约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TS编译零错误 / OpenAPI自检 / shared contracts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554480"/>
            <a:ext cx="5303520" cy="4846320"/>
          </a:xfrm>
          <a:prstGeom prst="roundRect">
            <a:avLst/>
          </a:prstGeom>
          <a:solidFill>
            <a:srgbClr val="E8F0F2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6642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Microsoft YaHei"/>
              </a:defRPr>
            </a:pPr>
            <a:r>
              <a:t>工程实践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1993392"/>
            <a:ext cx="5029200" cy="1371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1031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TypeScript 全栈类型安全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35915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React Query 缓存 + 乐观更新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61518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Vitest + Playwright 双测试框架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87121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Python 3.13 + asyncio 异步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12724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SQLAlchemy 2.0 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3832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Pydantic v2 校验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63931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Vite code splitting + manualChunks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89534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React.memo + useCallback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15137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PanelErrorBoundary 面板级容错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40740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Git版本化Prompt · A/B测试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6634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CI/CD: ruff+mypy+pytest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91947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Docker Compose 5容器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64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14  项目价值与预期效果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降低再入院率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164592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E0E5"/>
                </a:solidFill>
                <a:latin typeface="Microsoft YaHei"/>
              </a:defRPr>
            </a:pPr>
            <a:r>
              <a:t>出院后7天真空期标准化交接</a:t>
            </a:r>
            <a:br/>
            <a:r>
              <a:t>随访闭环覆盖 · 预期降低20-30%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⏱️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提升临床效率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743200"/>
            <a:ext cx="164592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30175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E0E5"/>
                </a:solidFill>
                <a:latin typeface="Microsoft YaHei"/>
              </a:defRPr>
            </a:pPr>
            <a:r>
              <a:t>AI查房摘要+出院小结自动生成</a:t>
            </a:r>
            <a:br/>
            <a:r>
              <a:t>医生审核时间缩短40%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打通数据孤岛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2743200"/>
            <a:ext cx="164592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0175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E0E5"/>
                </a:solidFill>
                <a:latin typeface="Microsoft YaHei"/>
              </a:defRPr>
            </a:pPr>
            <a:r>
              <a:t>FHIR R4标准 · 出院数据一键同步</a:t>
            </a:r>
            <a:br/>
            <a:r>
              <a:t>慢病管理数据连续不中断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🛡️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降低医疗风险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2743200"/>
            <a:ext cx="1645920" cy="2743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30175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E0E5"/>
                </a:solidFill>
                <a:latin typeface="Microsoft YaHei"/>
              </a:defRPr>
            </a:pPr>
            <a:r>
              <a:t>NEWS2告警+用药冲突检测</a:t>
            </a:r>
            <a:br/>
            <a:r>
              <a:t>AI辅助DDx+全链路审计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86A17"/>
                </a:solidFill>
                <a:latin typeface="Microsoft YaHei"/>
              </a:defRPr>
            </a:pPr>
            <a:r>
              <a:t>130+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D5DC"/>
                </a:solidFill>
                <a:latin typeface="Microsoft YaHei"/>
              </a:defRPr>
            </a:pPr>
            <a:r>
              <a:t>后端测试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754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86A17"/>
                </a:solidFill>
                <a:latin typeface="Microsoft YaHei"/>
              </a:defRPr>
            </a:pPr>
            <a:r>
              <a:t>128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D5DC"/>
                </a:solidFill>
                <a:latin typeface="Microsoft YaHei"/>
              </a:defRPr>
            </a:pPr>
            <a:r>
              <a:t>前端测试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754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86A17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D5DC"/>
                </a:solidFill>
                <a:latin typeface="Microsoft YaHei"/>
              </a:defRPr>
            </a:pPr>
            <a:r>
              <a:t>E2E链路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754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86A17"/>
                </a:solidFill>
                <a:latin typeface="Microsoft YaHei"/>
              </a:defRPr>
            </a:pPr>
            <a:r>
              <a:t>85+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D5DC"/>
                </a:solidFill>
                <a:latin typeface="Microsoft YaHei"/>
              </a:defRPr>
            </a:pPr>
            <a:r>
              <a:t>医生端按钮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754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86A17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D5DC"/>
                </a:solidFill>
                <a:latin typeface="Microsoft YaHei"/>
              </a:defRPr>
            </a:pPr>
            <a:r>
              <a:t>AI节点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4754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86A17"/>
                </a:solidFill>
                <a:latin typeface="Microsoft YaHei"/>
              </a:defRPr>
            </a:pPr>
            <a:r>
              <a:t>163+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D5DC"/>
                </a:solidFill>
                <a:latin typeface="Microsoft YaHei"/>
              </a:defRPr>
            </a:pPr>
            <a:r>
              <a:t>API端点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6472"/>
                </a:solidFill>
                <a:latin typeface="Microsoft YaHei"/>
              </a:defRPr>
            </a:pPr>
            <a:r>
              <a:t>15  实施路线图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三阶段交付 · 从试点到规模化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7899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356616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1907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✅ 已完成 v0.3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医生工作台(85+功能按钮)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护理看板(6大工作区)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540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管理控制台(双角色视图)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3814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19节点AI Agent编排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221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FHIR Adapter接入主链路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06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16层385条RAG知识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5902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Neo4j证据图谱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9743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E2E自动化测试(17条)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5838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3个病种模板(心衰/高血压/糖尿病)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645920"/>
            <a:ext cx="3566160" cy="457200"/>
          </a:xfrm>
          <a:prstGeom prst="round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71907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🔄 进行中 v0.4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2860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Docker Compose 一键部署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6700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WebSocket实时推送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0540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API限流与安全加固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43814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审计日志MySQL持久化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8221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Alembic数据库迁移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206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14病种模板全覆盖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5902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中医知识库L15层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9743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carehandoff对接社区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35838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Node.js→Python全线迁移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1645920"/>
            <a:ext cx="3566160" cy="457200"/>
          </a:xfrm>
          <a:prstGeom prst="round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71907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📋 规划中 v1.0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2860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患者端(微信小程序)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6700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多院区组织架构扩展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0540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短信/微信随访提醒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43814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BI质控数据看板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8221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CDSS临床决策认证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206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Keycloak OIDC生产部署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5902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K8s+Ingress部署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49743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金标准临床评测集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535838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t>• 区域转诊协同网络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6472"/>
                </a:solidFill>
                <a:latin typeface="Microsoft YaHei"/>
              </a:defRPr>
            </a:pPr>
            <a:r>
              <a:t>16  当前架构评分与待办事项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R3架构审查: 8.0/10 · 130/130测试通过 · 19节点全链路覆盖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7899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057400" cy="1005840"/>
          </a:xfrm>
          <a:prstGeom prst="roundRect">
            <a:avLst/>
          </a:prstGeom>
          <a:solidFill>
            <a:srgbClr val="F5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E7D32"/>
                </a:solidFill>
                <a:latin typeface="Microsoft YaHei"/>
              </a:defRPr>
            </a:pPr>
            <a:r>
              <a:t>7.0→8.5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模块边界 (+1.5)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554480"/>
            <a:ext cx="2057400" cy="1005840"/>
          </a:xfrm>
          <a:prstGeom prst="roundRect">
            <a:avLst/>
          </a:prstGeom>
          <a:solidFill>
            <a:srgbClr val="F5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6916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E7D32"/>
                </a:solidFill>
                <a:latin typeface="Microsoft YaHei"/>
              </a:defRPr>
            </a:pPr>
            <a:r>
              <a:t>6.5→8.0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10312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代码复杂度 (+1.5)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554480"/>
            <a:ext cx="2057400" cy="1005840"/>
          </a:xfrm>
          <a:prstGeom prst="roundRect">
            <a:avLst/>
          </a:prstGeom>
          <a:solidFill>
            <a:srgbClr val="F5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6916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E7D32"/>
                </a:solidFill>
                <a:latin typeface="Microsoft YaHei"/>
              </a:defRPr>
            </a:pPr>
            <a:r>
              <a:t>7.0→8.0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10312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依赖关系 (+1.0)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554480"/>
            <a:ext cx="2057400" cy="1005840"/>
          </a:xfrm>
          <a:prstGeom prst="roundRect">
            <a:avLst/>
          </a:prstGeom>
          <a:solidFill>
            <a:srgbClr val="F5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6916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E7D32"/>
                </a:solidFill>
                <a:latin typeface="Microsoft YaHei"/>
              </a:defRPr>
            </a:pPr>
            <a:r>
              <a:t>5.5→8.5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10312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LLM集成 (+3.0)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1554480"/>
            <a:ext cx="2057400" cy="1005840"/>
          </a:xfrm>
          <a:prstGeom prst="roundRect">
            <a:avLst/>
          </a:prstGeom>
          <a:solidFill>
            <a:srgbClr val="F5F9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6916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D6C02"/>
                </a:solidFill>
                <a:latin typeface="Microsoft YaHei"/>
              </a:defRPr>
            </a:pPr>
            <a:r>
              <a:t>8.0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10312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新增模块质量 (—)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834640"/>
            <a:ext cx="11247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9077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2F2F"/>
                </a:solidFill>
                <a:latin typeface="Microsoft YaHei"/>
              </a:defRPr>
            </a:pPr>
            <a:r>
              <a:t>P0 本周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29077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鉴权升级(header→JWT+Keycloak)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9077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3处跨层依赖修复(agent→routes)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9077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路由层绕过领域层解耦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114800"/>
            <a:ext cx="11247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87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D6C02"/>
                </a:solidFill>
                <a:latin typeface="Microsoft YaHei"/>
              </a:defRPr>
            </a:pPr>
            <a:r>
              <a:t>P1 本月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418795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state_store持久化(SqliteSaver)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18795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LLM节点优化(8→4必要)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18795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API补齐(批量端点/FHIR全写)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394960"/>
            <a:ext cx="11247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4681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6472"/>
                </a:solidFill>
                <a:latin typeface="Microsoft YaHei"/>
              </a:defRPr>
            </a:pPr>
            <a:r>
              <a:t>P2 下季度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546811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模板深化(14→22病种)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546811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可观测性(Prometheus+Grafana)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546811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• Docker化部署自动化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6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6472"/>
                </a:solidFill>
                <a:latin typeface="Microsoft YaHei"/>
              </a:defRPr>
            </a:pPr>
            <a:r>
              <a:t>17  技术亮点一览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六大核心能力 vs 行业现状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7899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35661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  <a:latin typeface="Microsoft YaHei"/>
              </a:defRPr>
            </a:pPr>
            <a:r>
              <a:t>🏗️ 微服务架构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5服务独立部署 · HTTP REST通信</a:t>
            </a:r>
            <a:br/>
            <a:r>
              <a:t>统一UnifiedResponse · request_id透传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6A17"/>
                </a:solidFill>
                <a:latin typeface="Microsoft YaHei"/>
              </a:defRPr>
            </a:pPr>
            <a:r>
              <a:t>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传统单体HIS耦合严重</a:t>
            </a:r>
            <a:br/>
            <a:r>
              <a:t>接口格式不统一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554480"/>
            <a:ext cx="35661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  <a:latin typeface="Microsoft YaHei"/>
              </a:defRPr>
            </a:pPr>
            <a:r>
              <a:t>🤖 Agent编排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965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19节点StateGraph · 双模式</a:t>
            </a:r>
            <a:br/>
            <a:r>
              <a:t>DeepSeek V4 + Ollama容灾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7432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6A17"/>
                </a:solidFill>
                <a:latin typeface="Microsoft YaHei"/>
              </a:defRPr>
            </a:pPr>
            <a:r>
              <a:t>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017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规则引擎为主</a:t>
            </a:r>
            <a:br/>
            <a:r>
              <a:t>缺乏AI推理能力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5661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  <a:latin typeface="Microsoft YaHei"/>
              </a:defRPr>
            </a:pPr>
            <a:r>
              <a:t>📊 证据溯源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65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每条临床建议附带RAG引用</a:t>
            </a:r>
            <a:br/>
            <a:r>
              <a:t>Neo4j图谱可视化路径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7432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6A17"/>
                </a:solidFill>
                <a:latin typeface="Microsoft YaHei"/>
              </a:defRPr>
            </a:pPr>
            <a:r>
              <a:t>vs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017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黑盒决策</a:t>
            </a:r>
            <a:br/>
            <a:r>
              <a:t>无法追溯推理过程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023360"/>
            <a:ext cx="35661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14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  <a:latin typeface="Microsoft YaHei"/>
              </a:defRPr>
            </a:pPr>
            <a:r>
              <a:t>🔒 并发安全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34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CAS乐观锁+事务状态机</a:t>
            </a:r>
            <a:br/>
            <a:r>
              <a:t>409冲突保留用户草稿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212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6A17"/>
                </a:solidFill>
                <a:latin typeface="Microsoft YaHei"/>
              </a:defRPr>
            </a:pPr>
            <a:r>
              <a:t>vs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4864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后写覆盖</a:t>
            </a:r>
            <a:br/>
            <a:r>
              <a:t>多人并发写入丢失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4023360"/>
            <a:ext cx="35661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4114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  <a:latin typeface="Microsoft YaHei"/>
              </a:defRPr>
            </a:pPr>
            <a:r>
              <a:t>✅ 测试体系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434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130后端+128前端+17E2E</a:t>
            </a:r>
            <a:br/>
            <a:r>
              <a:t>TS零错误 · 全角色覆盖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5212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6A17"/>
                </a:solidFill>
                <a:latin typeface="Microsoft YaHei"/>
              </a:defRPr>
            </a:pPr>
            <a:r>
              <a:t>vs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54864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测试不足</a:t>
            </a:r>
            <a:br/>
            <a:r>
              <a:t>生产问题频发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023360"/>
            <a:ext cx="35661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80" y="4114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  <a:latin typeface="Microsoft YaHei"/>
              </a:defRPr>
            </a:pPr>
            <a:r>
              <a:t>🏥 FHIR标准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44348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t>8类资源+Patient Compartment</a:t>
            </a:r>
            <a:br/>
            <a:r>
              <a:t>脱敏+审计+同步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5212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6A17"/>
                </a:solidFill>
                <a:latin typeface="Microsoft YaHei"/>
              </a:defRPr>
            </a:pPr>
            <a:r>
              <a:t>vs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54864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私有格式</a:t>
            </a:r>
            <a:br/>
            <a:r>
              <a:t>系统间无法互通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64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200400"/>
            <a:ext cx="3200400" cy="36576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E0E5"/>
                </a:solidFill>
                <a:latin typeface="Microsoft YaHei"/>
              </a:defRPr>
            </a:pPr>
            <a:r>
              <a:t>臻护 — 让每一次出院交接都有据可循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心内科试点  ·  臻护团队  ·  2026年7月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BBC5"/>
                </a:solidFill>
                <a:latin typeface="Microsoft YaHei"/>
              </a:defRPr>
            </a:pPr>
            <a:r>
              <a:t>基于46份设计文档 · 163+ API · 19节点AI Agent · FHIR R4 · 全角色覆盖</a:t>
            </a:r>
            <a:br/>
            <a:r>
              <a:t>欢迎提问与交流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